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Old Standard TT"/>
      <p:regular r:id="rId25"/>
      <p:bold r:id="rId26"/>
      <p: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ldStandardTT-bold.fntdata"/><Relationship Id="rId25" Type="http://schemas.openxmlformats.org/officeDocument/2006/relationships/font" Target="fonts/OldStandardTT-regular.fntdata"/><Relationship Id="rId27" Type="http://schemas.openxmlformats.org/officeDocument/2006/relationships/font" Target="fonts/OldStandardT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f6b0d389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f6b0d389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f6b0d389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f6b0d389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12c410622e1ff60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12c410622e1ff60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12c410622e1ff60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12c410622e1ff60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12c410622e1ff60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12c410622e1ff60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12c410622e1ff60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12c410622e1ff60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f6b0d389e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f6b0d389e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f6b0d389e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f6b0d389e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f6b0d389e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f6b0d389e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f6b0d389e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f6b0d389e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f6b0d389e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f6b0d389e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f6b0d389e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f6b0d389e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f6b0d389e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f6b0d389e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f6b0d389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f6b0d389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f6b0d389e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4f6b0d389e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61835af7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61835af7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h12c410622e1ff60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h12c410622e1ff60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61835af7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61835af7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4f6b0d389e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4f6b0d389e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Scenarios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4939400" y="3971550"/>
            <a:ext cx="3691800" cy="615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Use code: </a:t>
            </a:r>
            <a:r>
              <a:rPr b="1" lang="en">
                <a:solidFill>
                  <a:srgbClr val="FF0000"/>
                </a:solidFill>
              </a:rPr>
              <a:t>Wolf_Sheep_Predation_simpler.nlogox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7325"/>
            <a:ext cx="4245949" cy="364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1338100"/>
            <a:ext cx="4440851" cy="2307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1338100"/>
            <a:ext cx="4440851" cy="230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9223" y="981925"/>
            <a:ext cx="1268175" cy="391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1338100"/>
            <a:ext cx="4440851" cy="230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350" y="1669600"/>
            <a:ext cx="1010200" cy="3115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7252" y="873950"/>
            <a:ext cx="938600" cy="4063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1338100"/>
            <a:ext cx="4440851" cy="230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350" y="1209275"/>
            <a:ext cx="802076" cy="3472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9625" y="804925"/>
            <a:ext cx="1110125" cy="424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1338100"/>
            <a:ext cx="4440851" cy="230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850" y="804925"/>
            <a:ext cx="1110125" cy="424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9475" y="1440400"/>
            <a:ext cx="2854226" cy="3282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497" y="804925"/>
            <a:ext cx="3756901" cy="3802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4775" y="2571750"/>
            <a:ext cx="1973250" cy="7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0825" y="264650"/>
            <a:ext cx="3992224" cy="207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2" name="Google Shape;112;p20"/>
          <p:cNvSpPr/>
          <p:nvPr/>
        </p:nvSpPr>
        <p:spPr>
          <a:xfrm rot="10800000">
            <a:off x="4572000" y="3599750"/>
            <a:ext cx="590400" cy="393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4098275" y="2447250"/>
            <a:ext cx="1587000" cy="7389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Common procedures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7325"/>
            <a:ext cx="3806950" cy="334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1575" y="1026400"/>
            <a:ext cx="1973250" cy="7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0825" y="264650"/>
            <a:ext cx="3992224" cy="207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/>
          <p:nvPr/>
        </p:nvSpPr>
        <p:spPr>
          <a:xfrm flipH="1" rot="-5400000">
            <a:off x="3495550" y="1574175"/>
            <a:ext cx="590400" cy="393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1562100" y="1608825"/>
            <a:ext cx="15870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SHEEP</a:t>
            </a:r>
            <a:r>
              <a:rPr b="1"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procedures</a:t>
            </a:r>
            <a:endParaRPr b="1"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3809"/>
          <a:stretch/>
        </p:blipFill>
        <p:spPr>
          <a:xfrm>
            <a:off x="152400" y="2737025"/>
            <a:ext cx="6343650" cy="2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0825" y="264650"/>
            <a:ext cx="3992224" cy="207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/>
          <p:nvPr/>
        </p:nvSpPr>
        <p:spPr>
          <a:xfrm flipH="1" rot="-5400000">
            <a:off x="3495550" y="1574175"/>
            <a:ext cx="590400" cy="393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1562100" y="1608825"/>
            <a:ext cx="15870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WOLVES</a:t>
            </a:r>
            <a:r>
              <a:rPr b="1"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procedures</a:t>
            </a:r>
            <a:endParaRPr b="1"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0825" y="264650"/>
            <a:ext cx="3992224" cy="207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00125"/>
            <a:ext cx="63246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0" name="Google Shape;140;p23"/>
          <p:cNvSpPr/>
          <p:nvPr/>
        </p:nvSpPr>
        <p:spPr>
          <a:xfrm flipH="1" rot="-5400000">
            <a:off x="3495550" y="1574175"/>
            <a:ext cx="590400" cy="393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1562100" y="1608825"/>
            <a:ext cx="15870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PATCHES</a:t>
            </a:r>
            <a:r>
              <a:rPr b="1"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procedures</a:t>
            </a:r>
            <a:endParaRPr b="1"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0825" y="264650"/>
            <a:ext cx="3992224" cy="207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 rotWithShape="1">
          <a:blip r:embed="rId4">
            <a:alphaModFix/>
          </a:blip>
          <a:srcRect b="6007" l="0" r="0" t="2149"/>
          <a:stretch/>
        </p:blipFill>
        <p:spPr>
          <a:xfrm>
            <a:off x="1266825" y="2419850"/>
            <a:ext cx="5004124" cy="26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8151" y="199325"/>
            <a:ext cx="4440848" cy="2288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0" name="Google Shape;150;p24"/>
          <p:cNvSpPr/>
          <p:nvPr/>
        </p:nvSpPr>
        <p:spPr>
          <a:xfrm flipH="1" rot="-5400000">
            <a:off x="3495550" y="1574175"/>
            <a:ext cx="590400" cy="393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74975" y="3099175"/>
            <a:ext cx="1944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You will get a VALUE when you call a “reporter”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52" name="Google Shape;15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9155" y="3099175"/>
            <a:ext cx="5966845" cy="12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4"/>
          <p:cNvSpPr txBox="1"/>
          <p:nvPr/>
        </p:nvSpPr>
        <p:spPr>
          <a:xfrm>
            <a:off x="1373800" y="1608825"/>
            <a:ext cx="17754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using</a:t>
            </a:r>
            <a:r>
              <a:rPr b="1"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REPORTERS</a:t>
            </a:r>
            <a:endParaRPr b="1"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/>
          <p:nvPr/>
        </p:nvSpPr>
        <p:spPr>
          <a:xfrm>
            <a:off x="3314450" y="3720988"/>
            <a:ext cx="972300" cy="4515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3859600" y="381000"/>
            <a:ext cx="4907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You will get a VALUE when you call a “reporter”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 rotWithShape="1">
          <a:blip r:embed="rId3">
            <a:alphaModFix/>
          </a:blip>
          <a:srcRect b="16115" l="2790" r="0" t="28657"/>
          <a:stretch/>
        </p:blipFill>
        <p:spPr>
          <a:xfrm>
            <a:off x="4941050" y="4127650"/>
            <a:ext cx="3985925" cy="4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5"/>
          <p:cNvPicPr preferRelativeResize="0"/>
          <p:nvPr/>
        </p:nvPicPr>
        <p:blipFill rotWithShape="1">
          <a:blip r:embed="rId4">
            <a:alphaModFix/>
          </a:blip>
          <a:srcRect b="5321" l="0" r="0" t="0"/>
          <a:stretch/>
        </p:blipFill>
        <p:spPr>
          <a:xfrm>
            <a:off x="3236200" y="863613"/>
            <a:ext cx="3878251" cy="2819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286232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235500" y="1402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Analysis</a:t>
            </a:r>
            <a:endParaRPr b="1"/>
          </a:p>
        </p:txBody>
      </p:sp>
      <p:sp>
        <p:nvSpPr>
          <p:cNvPr id="168" name="Google Shape;168;p26"/>
          <p:cNvSpPr txBox="1"/>
          <p:nvPr/>
        </p:nvSpPr>
        <p:spPr>
          <a:xfrm>
            <a:off x="6110150" y="2151975"/>
            <a:ext cx="2508900" cy="1339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IMPORTANT FOR THE HOMEWORK</a:t>
            </a:r>
            <a:endParaRPr b="1" sz="2500">
              <a:solidFill>
                <a:srgbClr val="FFFF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5825"/>
            <a:ext cx="4060479" cy="408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235500" y="1402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Analysis</a:t>
            </a:r>
            <a:endParaRPr b="1"/>
          </a:p>
        </p:txBody>
      </p:sp>
      <p:sp>
        <p:nvSpPr>
          <p:cNvPr id="175" name="Google Shape;175;p27"/>
          <p:cNvSpPr txBox="1"/>
          <p:nvPr/>
        </p:nvSpPr>
        <p:spPr>
          <a:xfrm>
            <a:off x="7153150" y="1932975"/>
            <a:ext cx="170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FF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Using:</a:t>
            </a:r>
            <a:endParaRPr b="1" sz="1800">
              <a:solidFill>
                <a:srgbClr val="FF00FF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Behavior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Space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5825"/>
            <a:ext cx="6472861" cy="408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727" y="862575"/>
            <a:ext cx="4352924" cy="430934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 txBox="1"/>
          <p:nvPr>
            <p:ph type="title"/>
          </p:nvPr>
        </p:nvSpPr>
        <p:spPr>
          <a:xfrm>
            <a:off x="235500" y="1402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Analysis</a:t>
            </a:r>
            <a:endParaRPr b="1"/>
          </a:p>
        </p:txBody>
      </p:sp>
      <p:sp>
        <p:nvSpPr>
          <p:cNvPr id="183" name="Google Shape;183;p28"/>
          <p:cNvSpPr txBox="1"/>
          <p:nvPr/>
        </p:nvSpPr>
        <p:spPr>
          <a:xfrm>
            <a:off x="6626850" y="712225"/>
            <a:ext cx="170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FF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Using:</a:t>
            </a:r>
            <a:endParaRPr b="1" sz="1800">
              <a:solidFill>
                <a:srgbClr val="FF00FF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Behavior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Space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3534150" y="1436550"/>
            <a:ext cx="92100" cy="510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3404425" y="2185775"/>
            <a:ext cx="92100" cy="510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1956597" y="3322625"/>
            <a:ext cx="66900" cy="400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2046302" y="3864300"/>
            <a:ext cx="92100" cy="400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88" name="Google Shape;188;p28"/>
          <p:cNvCxnSpPr/>
          <p:nvPr/>
        </p:nvCxnSpPr>
        <p:spPr>
          <a:xfrm rot="10800000">
            <a:off x="3696925" y="1799900"/>
            <a:ext cx="1664700" cy="66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28"/>
          <p:cNvCxnSpPr>
            <a:endCxn id="186" idx="1"/>
          </p:cNvCxnSpPr>
          <p:nvPr/>
        </p:nvCxnSpPr>
        <p:spPr>
          <a:xfrm flipH="1">
            <a:off x="2023497" y="2954075"/>
            <a:ext cx="3321000" cy="56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8"/>
          <p:cNvCxnSpPr>
            <a:stCxn id="191" idx="1"/>
          </p:cNvCxnSpPr>
          <p:nvPr/>
        </p:nvCxnSpPr>
        <p:spPr>
          <a:xfrm rot="10800000">
            <a:off x="3604675" y="2521625"/>
            <a:ext cx="1714200" cy="80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28"/>
          <p:cNvCxnSpPr>
            <a:endCxn id="187" idx="1"/>
          </p:cNvCxnSpPr>
          <p:nvPr/>
        </p:nvCxnSpPr>
        <p:spPr>
          <a:xfrm rot="10800000">
            <a:off x="2138402" y="4064550"/>
            <a:ext cx="3228900" cy="19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8"/>
          <p:cNvCxnSpPr/>
          <p:nvPr/>
        </p:nvCxnSpPr>
        <p:spPr>
          <a:xfrm flipH="1">
            <a:off x="2612100" y="4448825"/>
            <a:ext cx="2755200" cy="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8"/>
          <p:cNvCxnSpPr/>
          <p:nvPr/>
        </p:nvCxnSpPr>
        <p:spPr>
          <a:xfrm rot="10800000">
            <a:off x="1521250" y="1968450"/>
            <a:ext cx="3863100" cy="164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1" name="Google Shape;19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8875" y="1688250"/>
            <a:ext cx="3248908" cy="326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00" y="885325"/>
            <a:ext cx="4219801" cy="41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9"/>
          <p:cNvSpPr txBox="1"/>
          <p:nvPr>
            <p:ph type="title"/>
          </p:nvPr>
        </p:nvSpPr>
        <p:spPr>
          <a:xfrm>
            <a:off x="235500" y="1402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Analysis</a:t>
            </a:r>
            <a:endParaRPr b="1"/>
          </a:p>
        </p:txBody>
      </p:sp>
      <p:sp>
        <p:nvSpPr>
          <p:cNvPr id="201" name="Google Shape;201;p29"/>
          <p:cNvSpPr txBox="1"/>
          <p:nvPr/>
        </p:nvSpPr>
        <p:spPr>
          <a:xfrm>
            <a:off x="6626850" y="712225"/>
            <a:ext cx="170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FF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Using:</a:t>
            </a:r>
            <a:endParaRPr b="1" sz="1800">
              <a:solidFill>
                <a:srgbClr val="FF00FF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Behavior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Space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02" name="Google Shape;202;p29"/>
          <p:cNvSpPr/>
          <p:nvPr/>
        </p:nvSpPr>
        <p:spPr>
          <a:xfrm>
            <a:off x="3534150" y="1436550"/>
            <a:ext cx="92100" cy="510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03" name="Google Shape;203;p29"/>
          <p:cNvSpPr/>
          <p:nvPr/>
        </p:nvSpPr>
        <p:spPr>
          <a:xfrm>
            <a:off x="3404425" y="2185775"/>
            <a:ext cx="92100" cy="510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04" name="Google Shape;204;p29"/>
          <p:cNvSpPr/>
          <p:nvPr/>
        </p:nvSpPr>
        <p:spPr>
          <a:xfrm>
            <a:off x="1956597" y="3322625"/>
            <a:ext cx="66900" cy="400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05" name="Google Shape;205;p29"/>
          <p:cNvSpPr/>
          <p:nvPr/>
        </p:nvSpPr>
        <p:spPr>
          <a:xfrm>
            <a:off x="2046302" y="3864300"/>
            <a:ext cx="92100" cy="400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206" name="Google Shape;206;p29"/>
          <p:cNvCxnSpPr/>
          <p:nvPr/>
        </p:nvCxnSpPr>
        <p:spPr>
          <a:xfrm rot="10800000">
            <a:off x="3696925" y="1799900"/>
            <a:ext cx="1664700" cy="66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29"/>
          <p:cNvCxnSpPr>
            <a:endCxn id="204" idx="1"/>
          </p:cNvCxnSpPr>
          <p:nvPr/>
        </p:nvCxnSpPr>
        <p:spPr>
          <a:xfrm flipH="1">
            <a:off x="2023497" y="2954075"/>
            <a:ext cx="3321000" cy="56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29"/>
          <p:cNvCxnSpPr>
            <a:stCxn id="209" idx="1"/>
          </p:cNvCxnSpPr>
          <p:nvPr/>
        </p:nvCxnSpPr>
        <p:spPr>
          <a:xfrm rot="10800000">
            <a:off x="3604675" y="2521625"/>
            <a:ext cx="1714200" cy="80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29"/>
          <p:cNvCxnSpPr>
            <a:endCxn id="205" idx="1"/>
          </p:cNvCxnSpPr>
          <p:nvPr/>
        </p:nvCxnSpPr>
        <p:spPr>
          <a:xfrm rot="10800000">
            <a:off x="2138402" y="4064550"/>
            <a:ext cx="3228900" cy="19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29"/>
          <p:cNvCxnSpPr/>
          <p:nvPr/>
        </p:nvCxnSpPr>
        <p:spPr>
          <a:xfrm flipH="1">
            <a:off x="2612100" y="4448825"/>
            <a:ext cx="2755200" cy="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29"/>
          <p:cNvCxnSpPr/>
          <p:nvPr/>
        </p:nvCxnSpPr>
        <p:spPr>
          <a:xfrm rot="10800000">
            <a:off x="1521250" y="1968450"/>
            <a:ext cx="3863100" cy="164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9" name="Google Shape;20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8875" y="1688250"/>
            <a:ext cx="3248908" cy="326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/>
          <p:nvPr>
            <p:ph type="title"/>
          </p:nvPr>
        </p:nvSpPr>
        <p:spPr>
          <a:xfrm>
            <a:off x="235500" y="1402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Analysis</a:t>
            </a:r>
            <a:endParaRPr b="1"/>
          </a:p>
        </p:txBody>
      </p:sp>
      <p:sp>
        <p:nvSpPr>
          <p:cNvPr id="218" name="Google Shape;218;p30"/>
          <p:cNvSpPr txBox="1"/>
          <p:nvPr/>
        </p:nvSpPr>
        <p:spPr>
          <a:xfrm>
            <a:off x="6626850" y="712225"/>
            <a:ext cx="170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FF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Using:</a:t>
            </a:r>
            <a:endParaRPr b="1" sz="1800">
              <a:solidFill>
                <a:srgbClr val="FF00FF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Behavior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Space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219" name="Google Shape;21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79199"/>
            <a:ext cx="4046576" cy="327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30"/>
          <p:cNvCxnSpPr/>
          <p:nvPr/>
        </p:nvCxnSpPr>
        <p:spPr>
          <a:xfrm rot="10800000">
            <a:off x="3713100" y="3899950"/>
            <a:ext cx="1443900" cy="71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21" name="Google Shape;22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2925" y="1620050"/>
            <a:ext cx="3248908" cy="326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>
            <p:ph type="title"/>
          </p:nvPr>
        </p:nvSpPr>
        <p:spPr>
          <a:xfrm>
            <a:off x="235500" y="1402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Analysis</a:t>
            </a:r>
            <a:endParaRPr b="1"/>
          </a:p>
        </p:txBody>
      </p:sp>
      <p:sp>
        <p:nvSpPr>
          <p:cNvPr id="227" name="Google Shape;227;p31"/>
          <p:cNvSpPr txBox="1"/>
          <p:nvPr/>
        </p:nvSpPr>
        <p:spPr>
          <a:xfrm>
            <a:off x="643025" y="1110725"/>
            <a:ext cx="2468100" cy="1569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Results from the Behavior Space experiments will need to be analyzed OUTSIDE NetLogo</a:t>
            </a:r>
            <a:endParaRPr b="1" sz="1800">
              <a:solidFill>
                <a:srgbClr val="98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228" name="Google Shape;22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9450" y="650825"/>
            <a:ext cx="5518894" cy="408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1"/>
          <p:cNvSpPr txBox="1"/>
          <p:nvPr/>
        </p:nvSpPr>
        <p:spPr>
          <a:xfrm>
            <a:off x="115750" y="3650300"/>
            <a:ext cx="3125100" cy="10158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VISIT THE </a:t>
            </a: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COLAB</a:t>
            </a: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NOTEBOOK LINK PROVIDED 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30" name="Google Shape;230;p31"/>
          <p:cNvSpPr/>
          <p:nvPr/>
        </p:nvSpPr>
        <p:spPr>
          <a:xfrm rot="5400000">
            <a:off x="1459525" y="2902513"/>
            <a:ext cx="754500" cy="5259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