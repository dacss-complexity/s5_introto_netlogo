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Old Standard TT"/>
      <p:regular r:id="rId12"/>
      <p:bold r:id="rId13"/>
      <p: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OldStandardTT-bold.fntdata"/><Relationship Id="rId12" Type="http://schemas.openxmlformats.org/officeDocument/2006/relationships/font" Target="fonts/OldStandardT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OldStandardT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3290c0784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3290c0784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3290c07846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3290c0784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5ef104568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5ef104568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290c07846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3290c0784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290c07846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3290c07846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290c07846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3290c07846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Model SetUp</a:t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7091325" y="3933600"/>
            <a:ext cx="1901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00"/>
                </a:solidFill>
              </a:rPr>
              <a:t>Open file:</a:t>
            </a:r>
            <a:endParaRPr b="1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00"/>
                </a:solidFill>
              </a:rPr>
              <a:t>1_</a:t>
            </a:r>
            <a:r>
              <a:rPr b="1" lang="en">
                <a:solidFill>
                  <a:srgbClr val="FFFF00"/>
                </a:solidFill>
              </a:rPr>
              <a:t>setups.nlogox</a:t>
            </a:r>
            <a:endParaRPr b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3898" y="394825"/>
            <a:ext cx="3442827" cy="233620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Creating simple agents</a:t>
            </a:r>
            <a:endParaRPr b="1"/>
          </a:p>
        </p:txBody>
      </p:sp>
      <p:sp>
        <p:nvSpPr>
          <p:cNvPr id="67" name="Google Shape;67;p14"/>
          <p:cNvSpPr txBox="1"/>
          <p:nvPr/>
        </p:nvSpPr>
        <p:spPr>
          <a:xfrm>
            <a:off x="1793150" y="3061975"/>
            <a:ext cx="39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o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3670175" y="2674000"/>
            <a:ext cx="650100" cy="613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9" name="Google Shape;69;p14"/>
          <p:cNvCxnSpPr/>
          <p:nvPr/>
        </p:nvCxnSpPr>
        <p:spPr>
          <a:xfrm>
            <a:off x="5340900" y="1056750"/>
            <a:ext cx="694500" cy="6078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0" name="Google Shape;70;p14"/>
          <p:cNvPicPr preferRelativeResize="0"/>
          <p:nvPr/>
        </p:nvPicPr>
        <p:blipFill rotWithShape="1">
          <a:blip r:embed="rId4">
            <a:alphaModFix/>
          </a:blip>
          <a:srcRect b="0" l="0" r="13592" t="0"/>
          <a:stretch/>
        </p:blipFill>
        <p:spPr>
          <a:xfrm>
            <a:off x="4534875" y="2953475"/>
            <a:ext cx="1693951" cy="20326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" name="Google Shape;71;p14"/>
          <p:cNvCxnSpPr>
            <a:endCxn id="70" idx="3"/>
          </p:cNvCxnSpPr>
          <p:nvPr/>
        </p:nvCxnSpPr>
        <p:spPr>
          <a:xfrm flipH="1" rot="-5400000">
            <a:off x="5115076" y="2856075"/>
            <a:ext cx="2126400" cy="101100"/>
          </a:xfrm>
          <a:prstGeom prst="bentConnector4">
            <a:avLst>
              <a:gd fmla="val 26102" name="adj1"/>
              <a:gd fmla="val 335534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" name="Google Shape;72;p14"/>
          <p:cNvSpPr txBox="1"/>
          <p:nvPr/>
        </p:nvSpPr>
        <p:spPr>
          <a:xfrm>
            <a:off x="7172600" y="3586300"/>
            <a:ext cx="14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100 agents 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73" name="Google Shape;73;p14"/>
          <p:cNvCxnSpPr>
            <a:stCxn id="72" idx="0"/>
          </p:cNvCxnSpPr>
          <p:nvPr/>
        </p:nvCxnSpPr>
        <p:spPr>
          <a:xfrm rot="10800000">
            <a:off x="7896050" y="3072400"/>
            <a:ext cx="21000" cy="513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4" name="Google Shape;74;p14"/>
          <p:cNvPicPr preferRelativeResize="0"/>
          <p:nvPr/>
        </p:nvPicPr>
        <p:blipFill rotWithShape="1">
          <a:blip r:embed="rId5">
            <a:alphaModFix/>
          </a:blip>
          <a:srcRect b="24772" l="10426" r="18506" t="12642"/>
          <a:stretch/>
        </p:blipFill>
        <p:spPr>
          <a:xfrm>
            <a:off x="586100" y="1665826"/>
            <a:ext cx="2869475" cy="1451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 rotWithShape="1">
          <a:blip r:embed="rId6">
            <a:alphaModFix/>
          </a:blip>
          <a:srcRect b="27124" l="10716" r="13064" t="12156"/>
          <a:stretch/>
        </p:blipFill>
        <p:spPr>
          <a:xfrm>
            <a:off x="581974" y="3465892"/>
            <a:ext cx="2869475" cy="1312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3898" y="394825"/>
            <a:ext cx="3442827" cy="23362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Creating simple agents</a:t>
            </a:r>
            <a:endParaRPr b="1"/>
          </a:p>
        </p:txBody>
      </p:sp>
      <p:sp>
        <p:nvSpPr>
          <p:cNvPr id="82" name="Google Shape;82;p15"/>
          <p:cNvSpPr txBox="1"/>
          <p:nvPr/>
        </p:nvSpPr>
        <p:spPr>
          <a:xfrm>
            <a:off x="1793150" y="3061975"/>
            <a:ext cx="39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o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3670175" y="2674000"/>
            <a:ext cx="650100" cy="613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" name="Google Shape;84;p15"/>
          <p:cNvCxnSpPr/>
          <p:nvPr/>
        </p:nvCxnSpPr>
        <p:spPr>
          <a:xfrm>
            <a:off x="5340900" y="1056750"/>
            <a:ext cx="694500" cy="6078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5" name="Google Shape;85;p15"/>
          <p:cNvPicPr preferRelativeResize="0"/>
          <p:nvPr/>
        </p:nvPicPr>
        <p:blipFill rotWithShape="1">
          <a:blip r:embed="rId4">
            <a:alphaModFix/>
          </a:blip>
          <a:srcRect b="0" l="0" r="13592" t="0"/>
          <a:stretch/>
        </p:blipFill>
        <p:spPr>
          <a:xfrm>
            <a:off x="4534875" y="2953475"/>
            <a:ext cx="1693951" cy="20326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" name="Google Shape;86;p15"/>
          <p:cNvCxnSpPr>
            <a:endCxn id="85" idx="3"/>
          </p:cNvCxnSpPr>
          <p:nvPr/>
        </p:nvCxnSpPr>
        <p:spPr>
          <a:xfrm flipH="1" rot="-5400000">
            <a:off x="5115076" y="2856075"/>
            <a:ext cx="2126400" cy="101100"/>
          </a:xfrm>
          <a:prstGeom prst="bentConnector4">
            <a:avLst>
              <a:gd fmla="val 26102" name="adj1"/>
              <a:gd fmla="val 335534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p15"/>
          <p:cNvSpPr txBox="1"/>
          <p:nvPr/>
        </p:nvSpPr>
        <p:spPr>
          <a:xfrm>
            <a:off x="7172600" y="3586300"/>
            <a:ext cx="14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100 agents 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88" name="Google Shape;88;p15"/>
          <p:cNvCxnSpPr>
            <a:stCxn id="87" idx="0"/>
          </p:cNvCxnSpPr>
          <p:nvPr/>
        </p:nvCxnSpPr>
        <p:spPr>
          <a:xfrm rot="10800000">
            <a:off x="7896050" y="3072400"/>
            <a:ext cx="21000" cy="513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9" name="Google Shape;89;p15"/>
          <p:cNvPicPr preferRelativeResize="0"/>
          <p:nvPr/>
        </p:nvPicPr>
        <p:blipFill rotWithShape="1">
          <a:blip r:embed="rId5">
            <a:alphaModFix/>
          </a:blip>
          <a:srcRect b="24772" l="10426" r="18506" t="12642"/>
          <a:stretch/>
        </p:blipFill>
        <p:spPr>
          <a:xfrm>
            <a:off x="586100" y="1665826"/>
            <a:ext cx="2869475" cy="1451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5"/>
          <p:cNvPicPr preferRelativeResize="0"/>
          <p:nvPr/>
        </p:nvPicPr>
        <p:blipFill rotWithShape="1">
          <a:blip r:embed="rId6">
            <a:alphaModFix/>
          </a:blip>
          <a:srcRect b="27124" l="10716" r="13064" t="12156"/>
          <a:stretch/>
        </p:blipFill>
        <p:spPr>
          <a:xfrm>
            <a:off x="581974" y="3465892"/>
            <a:ext cx="2869475" cy="131275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 txBox="1"/>
          <p:nvPr/>
        </p:nvSpPr>
        <p:spPr>
          <a:xfrm>
            <a:off x="2086000" y="2472688"/>
            <a:ext cx="1305300" cy="1015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800"/>
              <a:t>This block (setup–end) clears the memory (clear-all), creates 100 agents (create-turtles), and starts fresh (reset-ticks).</a:t>
            </a:r>
            <a:endParaRPr b="1" sz="800"/>
          </a:p>
        </p:txBody>
      </p:sp>
      <p:sp>
        <p:nvSpPr>
          <p:cNvPr id="92" name="Google Shape;92;p15"/>
          <p:cNvSpPr txBox="1"/>
          <p:nvPr/>
        </p:nvSpPr>
        <p:spPr>
          <a:xfrm>
            <a:off x="2134725" y="4253900"/>
            <a:ext cx="907800" cy="591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800"/>
              <a:t>Alternative commands (from above)</a:t>
            </a:r>
            <a:endParaRPr b="1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1793150" y="2909575"/>
            <a:ext cx="39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o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3670175" y="2674000"/>
            <a:ext cx="650100" cy="613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6"/>
          <p:cNvPicPr preferRelativeResize="0"/>
          <p:nvPr/>
        </p:nvPicPr>
        <p:blipFill rotWithShape="1">
          <a:blip r:embed="rId3">
            <a:alphaModFix/>
          </a:blip>
          <a:srcRect b="17861" l="12102" r="27570" t="8729"/>
          <a:stretch/>
        </p:blipFill>
        <p:spPr>
          <a:xfrm>
            <a:off x="398500" y="1016275"/>
            <a:ext cx="3057075" cy="377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6"/>
          <p:cNvPicPr preferRelativeResize="0"/>
          <p:nvPr/>
        </p:nvPicPr>
        <p:blipFill rotWithShape="1">
          <a:blip r:embed="rId4">
            <a:alphaModFix/>
          </a:blip>
          <a:srcRect b="9950" l="8208" r="7082" t="0"/>
          <a:stretch/>
        </p:blipFill>
        <p:spPr>
          <a:xfrm>
            <a:off x="4655900" y="719725"/>
            <a:ext cx="3953302" cy="416072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 txBox="1"/>
          <p:nvPr/>
        </p:nvSpPr>
        <p:spPr>
          <a:xfrm>
            <a:off x="3455575" y="3523375"/>
            <a:ext cx="1488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100 agents located randomly on 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the grid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02" name="Google Shape;102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Creating and locating simple agents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Creating agents with attributes</a:t>
            </a:r>
            <a:endParaRPr b="1"/>
          </a:p>
        </p:txBody>
      </p:sp>
      <p:sp>
        <p:nvSpPr>
          <p:cNvPr id="108" name="Google Shape;108;p17"/>
          <p:cNvSpPr txBox="1"/>
          <p:nvPr/>
        </p:nvSpPr>
        <p:spPr>
          <a:xfrm>
            <a:off x="1793150" y="2909575"/>
            <a:ext cx="39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o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3670175" y="2674000"/>
            <a:ext cx="650100" cy="613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7"/>
          <p:cNvPicPr preferRelativeResize="0"/>
          <p:nvPr/>
        </p:nvPicPr>
        <p:blipFill rotWithShape="1">
          <a:blip r:embed="rId3">
            <a:alphaModFix/>
          </a:blip>
          <a:srcRect b="16008" l="11412" r="12100" t="10392"/>
          <a:stretch/>
        </p:blipFill>
        <p:spPr>
          <a:xfrm>
            <a:off x="159300" y="1087826"/>
            <a:ext cx="3296275" cy="3595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7"/>
          <p:cNvPicPr preferRelativeResize="0"/>
          <p:nvPr/>
        </p:nvPicPr>
        <p:blipFill rotWithShape="1">
          <a:blip r:embed="rId4">
            <a:alphaModFix/>
          </a:blip>
          <a:srcRect b="14964" l="9807" r="11928" t="9036"/>
          <a:stretch/>
        </p:blipFill>
        <p:spPr>
          <a:xfrm>
            <a:off x="5067250" y="1289825"/>
            <a:ext cx="3625849" cy="3642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 txBox="1"/>
          <p:nvPr/>
        </p:nvSpPr>
        <p:spPr>
          <a:xfrm>
            <a:off x="3455575" y="3523375"/>
            <a:ext cx="1723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100 agents located randomly on 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the grid. 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Size and color based on attributes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Creating the world of the agents</a:t>
            </a:r>
            <a:endParaRPr b="1"/>
          </a:p>
        </p:txBody>
      </p:sp>
      <p:sp>
        <p:nvSpPr>
          <p:cNvPr id="118" name="Google Shape;118;p18"/>
          <p:cNvSpPr txBox="1"/>
          <p:nvPr/>
        </p:nvSpPr>
        <p:spPr>
          <a:xfrm>
            <a:off x="1793150" y="2909575"/>
            <a:ext cx="39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o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4355975" y="2674000"/>
            <a:ext cx="650100" cy="613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 txBox="1"/>
          <p:nvPr/>
        </p:nvSpPr>
        <p:spPr>
          <a:xfrm>
            <a:off x="4132350" y="3134800"/>
            <a:ext cx="1101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Coloring each “patch” based on a patch variable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 rotWithShape="1">
          <a:blip r:embed="rId3">
            <a:alphaModFix/>
          </a:blip>
          <a:srcRect b="15360" l="10426" r="11062" t="9751"/>
          <a:stretch/>
        </p:blipFill>
        <p:spPr>
          <a:xfrm>
            <a:off x="5182599" y="1153500"/>
            <a:ext cx="3735751" cy="362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8"/>
          <p:cNvPicPr preferRelativeResize="0"/>
          <p:nvPr/>
        </p:nvPicPr>
        <p:blipFill rotWithShape="1">
          <a:blip r:embed="rId4">
            <a:alphaModFix/>
          </a:blip>
          <a:srcRect b="19483" l="10930" r="15960" t="13240"/>
          <a:stretch/>
        </p:blipFill>
        <p:spPr>
          <a:xfrm>
            <a:off x="251650" y="1405150"/>
            <a:ext cx="3803925" cy="296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