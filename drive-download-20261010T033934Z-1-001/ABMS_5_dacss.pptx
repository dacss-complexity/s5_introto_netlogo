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Old Standard TT"/>
      <p:regular r:id="rId21"/>
      <p:bold r:id="rId22"/>
      <p: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OldStandardTT-bold.fntdata"/><Relationship Id="rId10" Type="http://schemas.openxmlformats.org/officeDocument/2006/relationships/slide" Target="slides/slide5.xml"/><Relationship Id="rId21" Type="http://schemas.openxmlformats.org/officeDocument/2006/relationships/font" Target="fonts/OldStandardTT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OldStandardT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4f6b0d389e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4f6b0d389e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4f6b0d389e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4f6b0d389e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4f6b0d389e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4f6b0d389e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4f6b0d389e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4f6b0d389e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4f6b0d389e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4f6b0d389e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4f6b0d389e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4f6b0d389e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4f6b0d389e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4f6b0d389e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4f6b0d389e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4f6b0d389e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4f6b0d389e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4f6b0d389e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f6b0d389e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4f6b0d389e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4f6b0d389e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4f6b0d389e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61835af7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61835af7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61835af78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f61835af78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61835af78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f61835af78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4f6b0d389e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4f6b0d389e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Scenarios</a:t>
            </a:r>
            <a:endParaRPr/>
          </a:p>
        </p:txBody>
      </p:sp>
      <p:sp>
        <p:nvSpPr>
          <p:cNvPr id="60" name="Google Shape;60;p13"/>
          <p:cNvSpPr txBox="1"/>
          <p:nvPr/>
        </p:nvSpPr>
        <p:spPr>
          <a:xfrm>
            <a:off x="4939400" y="3971550"/>
            <a:ext cx="3691800" cy="615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Use code: </a:t>
            </a:r>
            <a:r>
              <a:rPr b="1" lang="en">
                <a:solidFill>
                  <a:srgbClr val="FF0000"/>
                </a:solidFill>
              </a:rPr>
              <a:t>Wolf_Sheep_Predation_simpler.nlogox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/>
        </p:nvSpPr>
        <p:spPr>
          <a:xfrm>
            <a:off x="302850" y="219925"/>
            <a:ext cx="6666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The case: Wolf and Sheep</a:t>
            </a:r>
            <a:endParaRPr b="1" sz="2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66" name="Google Shape;6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0751" y="1229475"/>
            <a:ext cx="4440848" cy="228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957325"/>
            <a:ext cx="4245949" cy="3648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0751" y="1229475"/>
            <a:ext cx="4440848" cy="228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077075"/>
            <a:ext cx="4245952" cy="325092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>
            <a:off x="302850" y="219925"/>
            <a:ext cx="6666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The case: Wolf and Sheep</a:t>
            </a:r>
            <a:endParaRPr b="1" sz="2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0751" y="1229475"/>
            <a:ext cx="4440848" cy="228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675" y="2246125"/>
            <a:ext cx="4245950" cy="2016342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/>
        </p:nvSpPr>
        <p:spPr>
          <a:xfrm>
            <a:off x="302850" y="219925"/>
            <a:ext cx="6666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The case: Wolf and Sheep</a:t>
            </a:r>
            <a:endParaRPr b="1" sz="2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82" name="Google Shape;82;p16"/>
          <p:cNvSpPr/>
          <p:nvPr/>
        </p:nvSpPr>
        <p:spPr>
          <a:xfrm rot="10800000">
            <a:off x="4572000" y="3599750"/>
            <a:ext cx="590400" cy="3936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2603800" y="2742775"/>
            <a:ext cx="1587000" cy="7389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Common procedures</a:t>
            </a:r>
            <a:endParaRPr b="1" sz="1800">
              <a:solidFill>
                <a:srgbClr val="FF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1" y="210900"/>
            <a:ext cx="4440848" cy="228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499025"/>
            <a:ext cx="6065126" cy="23728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/>
          <p:nvPr/>
        </p:nvSpPr>
        <p:spPr>
          <a:xfrm flipH="1" rot="-5400000">
            <a:off x="3495550" y="1574175"/>
            <a:ext cx="590400" cy="3936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302850" y="219925"/>
            <a:ext cx="6666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The case: Wolf and Sheep</a:t>
            </a:r>
            <a:endParaRPr b="1" sz="2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1562100" y="1608825"/>
            <a:ext cx="1587000" cy="738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SHEEP</a:t>
            </a:r>
            <a:r>
              <a:rPr b="1" lang="en" sz="1800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procedures</a:t>
            </a:r>
            <a:endParaRPr b="1" sz="1800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571750"/>
            <a:ext cx="6140325" cy="23649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/>
          <p:nvPr/>
        </p:nvSpPr>
        <p:spPr>
          <a:xfrm flipH="1" rot="-5400000">
            <a:off x="3495550" y="1574175"/>
            <a:ext cx="590400" cy="3936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1" y="210900"/>
            <a:ext cx="4440848" cy="228812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8"/>
          <p:cNvSpPr txBox="1"/>
          <p:nvPr/>
        </p:nvSpPr>
        <p:spPr>
          <a:xfrm>
            <a:off x="302850" y="219925"/>
            <a:ext cx="6666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The case: Wolf and Sheep</a:t>
            </a:r>
            <a:endParaRPr b="1" sz="2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01" name="Google Shape;101;p18"/>
          <p:cNvSpPr txBox="1"/>
          <p:nvPr/>
        </p:nvSpPr>
        <p:spPr>
          <a:xfrm>
            <a:off x="1562100" y="1608825"/>
            <a:ext cx="1587000" cy="738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WOLVES</a:t>
            </a:r>
            <a:r>
              <a:rPr b="1" lang="en" sz="1800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procedures</a:t>
            </a:r>
            <a:endParaRPr b="1" sz="1800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8151" y="199325"/>
            <a:ext cx="4440848" cy="228812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9"/>
          <p:cNvSpPr txBox="1"/>
          <p:nvPr/>
        </p:nvSpPr>
        <p:spPr>
          <a:xfrm>
            <a:off x="302850" y="219925"/>
            <a:ext cx="6666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The case: Wolf and Sheep</a:t>
            </a:r>
            <a:endParaRPr b="1" sz="2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08" name="Google Shape;108;p19"/>
          <p:cNvSpPr/>
          <p:nvPr/>
        </p:nvSpPr>
        <p:spPr>
          <a:xfrm flipH="1" rot="-5400000">
            <a:off x="3495550" y="1574175"/>
            <a:ext cx="590400" cy="3936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09" name="Google Shape;10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639845"/>
            <a:ext cx="8197961" cy="2351256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9"/>
          <p:cNvSpPr txBox="1"/>
          <p:nvPr/>
        </p:nvSpPr>
        <p:spPr>
          <a:xfrm>
            <a:off x="1562100" y="1608825"/>
            <a:ext cx="1587000" cy="738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PATCHES</a:t>
            </a:r>
            <a:r>
              <a:rPr b="1" lang="en" sz="1800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procedures</a:t>
            </a:r>
            <a:endParaRPr b="1" sz="1800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8151" y="199325"/>
            <a:ext cx="4440848" cy="228812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0"/>
          <p:cNvSpPr txBox="1"/>
          <p:nvPr/>
        </p:nvSpPr>
        <p:spPr>
          <a:xfrm>
            <a:off x="302850" y="219925"/>
            <a:ext cx="6666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The case: Wolf and Sheep</a:t>
            </a:r>
            <a:endParaRPr b="1" sz="2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17" name="Google Shape;117;p20"/>
          <p:cNvSpPr/>
          <p:nvPr/>
        </p:nvSpPr>
        <p:spPr>
          <a:xfrm flipH="1" rot="-5400000">
            <a:off x="3495550" y="1574175"/>
            <a:ext cx="590400" cy="3936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18" name="Google Shape;118;p20"/>
          <p:cNvSpPr txBox="1"/>
          <p:nvPr/>
        </p:nvSpPr>
        <p:spPr>
          <a:xfrm>
            <a:off x="74975" y="3099175"/>
            <a:ext cx="1944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You will get a VALUE when you call a “reporter”</a:t>
            </a:r>
            <a:endParaRPr b="1" sz="1800">
              <a:solidFill>
                <a:srgbClr val="FF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19" name="Google Shape;11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9155" y="3099175"/>
            <a:ext cx="5966845" cy="129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0"/>
          <p:cNvSpPr txBox="1"/>
          <p:nvPr/>
        </p:nvSpPr>
        <p:spPr>
          <a:xfrm>
            <a:off x="1373800" y="1608825"/>
            <a:ext cx="1775400" cy="738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using</a:t>
            </a:r>
            <a:r>
              <a:rPr b="1" lang="en" sz="1800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REPORTERS</a:t>
            </a:r>
            <a:endParaRPr b="1" sz="1800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/>
          <p:nvPr/>
        </p:nvSpPr>
        <p:spPr>
          <a:xfrm>
            <a:off x="3854375" y="4166875"/>
            <a:ext cx="972300" cy="4515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26" name="Google Shape;126;p21"/>
          <p:cNvSpPr txBox="1"/>
          <p:nvPr/>
        </p:nvSpPr>
        <p:spPr>
          <a:xfrm>
            <a:off x="3859600" y="381000"/>
            <a:ext cx="4907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You will get a VALUE when you call a “reporter”</a:t>
            </a:r>
            <a:endParaRPr b="1" sz="1800">
              <a:solidFill>
                <a:srgbClr val="FF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27" name="Google Shape;12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3071027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0450" y="3972701"/>
            <a:ext cx="3640349" cy="78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1"/>
          <p:cNvPicPr preferRelativeResize="0"/>
          <p:nvPr/>
        </p:nvPicPr>
        <p:blipFill rotWithShape="1">
          <a:blip r:embed="rId5">
            <a:alphaModFix/>
          </a:blip>
          <a:srcRect b="5321" l="0" r="0" t="0"/>
          <a:stretch/>
        </p:blipFill>
        <p:spPr>
          <a:xfrm>
            <a:off x="4520650" y="1136413"/>
            <a:ext cx="3878251" cy="2819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>
            <p:ph type="title"/>
          </p:nvPr>
        </p:nvSpPr>
        <p:spPr>
          <a:xfrm>
            <a:off x="235500" y="1402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Scenario Analysis</a:t>
            </a:r>
            <a:endParaRPr b="1"/>
          </a:p>
        </p:txBody>
      </p:sp>
      <p:pic>
        <p:nvPicPr>
          <p:cNvPr id="135" name="Google Shape;13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400" y="802750"/>
            <a:ext cx="5046518" cy="4085277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2"/>
          <p:cNvSpPr txBox="1"/>
          <p:nvPr/>
        </p:nvSpPr>
        <p:spPr>
          <a:xfrm>
            <a:off x="6110150" y="2151975"/>
            <a:ext cx="2508900" cy="1339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FFFF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IMPORTANT FOR THE HOMEWORK</a:t>
            </a:r>
            <a:endParaRPr b="1" sz="2500">
              <a:solidFill>
                <a:srgbClr val="FFFF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/>
          <p:nvPr>
            <p:ph type="title"/>
          </p:nvPr>
        </p:nvSpPr>
        <p:spPr>
          <a:xfrm>
            <a:off x="235500" y="1402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Scenario Analysis</a:t>
            </a:r>
            <a:endParaRPr b="1"/>
          </a:p>
        </p:txBody>
      </p:sp>
      <p:sp>
        <p:nvSpPr>
          <p:cNvPr id="142" name="Google Shape;142;p23"/>
          <p:cNvSpPr txBox="1"/>
          <p:nvPr/>
        </p:nvSpPr>
        <p:spPr>
          <a:xfrm>
            <a:off x="7153150" y="1932975"/>
            <a:ext cx="1701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FF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Using:</a:t>
            </a:r>
            <a:endParaRPr b="1" sz="1800">
              <a:solidFill>
                <a:srgbClr val="FF00FF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Behavior</a:t>
            </a:r>
            <a:endParaRPr b="1" sz="1800">
              <a:solidFill>
                <a:srgbClr val="FF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Space</a:t>
            </a:r>
            <a:endParaRPr b="1" sz="1800">
              <a:solidFill>
                <a:srgbClr val="FF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43" name="Google Shape;14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05825"/>
            <a:ext cx="6472861" cy="408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 txBox="1"/>
          <p:nvPr>
            <p:ph type="title"/>
          </p:nvPr>
        </p:nvSpPr>
        <p:spPr>
          <a:xfrm>
            <a:off x="235500" y="1402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Scenario Analysis</a:t>
            </a:r>
            <a:endParaRPr b="1"/>
          </a:p>
        </p:txBody>
      </p:sp>
      <p:sp>
        <p:nvSpPr>
          <p:cNvPr id="149" name="Google Shape;149;p24"/>
          <p:cNvSpPr txBox="1"/>
          <p:nvPr/>
        </p:nvSpPr>
        <p:spPr>
          <a:xfrm>
            <a:off x="6626850" y="712225"/>
            <a:ext cx="1701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FF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Using:</a:t>
            </a:r>
            <a:endParaRPr b="1" sz="1800">
              <a:solidFill>
                <a:srgbClr val="FF00FF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Behavior</a:t>
            </a:r>
            <a:endParaRPr b="1" sz="1800">
              <a:solidFill>
                <a:srgbClr val="FF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Space</a:t>
            </a:r>
            <a:endParaRPr b="1" sz="1800">
              <a:solidFill>
                <a:srgbClr val="FF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50" name="Google Shape;15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2448" y="2011676"/>
            <a:ext cx="3278349" cy="2653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905825"/>
            <a:ext cx="3832076" cy="4085274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4"/>
          <p:cNvSpPr/>
          <p:nvPr/>
        </p:nvSpPr>
        <p:spPr>
          <a:xfrm>
            <a:off x="3534150" y="1436550"/>
            <a:ext cx="92100" cy="5100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53" name="Google Shape;153;p24"/>
          <p:cNvSpPr/>
          <p:nvPr/>
        </p:nvSpPr>
        <p:spPr>
          <a:xfrm>
            <a:off x="3404425" y="2185775"/>
            <a:ext cx="92100" cy="5100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54" name="Google Shape;154;p24"/>
          <p:cNvSpPr/>
          <p:nvPr/>
        </p:nvSpPr>
        <p:spPr>
          <a:xfrm>
            <a:off x="2047522" y="3244250"/>
            <a:ext cx="66900" cy="4005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55" name="Google Shape;155;p24"/>
          <p:cNvSpPr/>
          <p:nvPr/>
        </p:nvSpPr>
        <p:spPr>
          <a:xfrm>
            <a:off x="2114502" y="3722200"/>
            <a:ext cx="92100" cy="4005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cxnSp>
        <p:nvCxnSpPr>
          <p:cNvPr id="156" name="Google Shape;156;p24"/>
          <p:cNvCxnSpPr/>
          <p:nvPr/>
        </p:nvCxnSpPr>
        <p:spPr>
          <a:xfrm rot="10800000">
            <a:off x="3696925" y="1799975"/>
            <a:ext cx="1204500" cy="86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" name="Google Shape;157;p24"/>
          <p:cNvCxnSpPr/>
          <p:nvPr/>
        </p:nvCxnSpPr>
        <p:spPr>
          <a:xfrm flipH="1">
            <a:off x="2351550" y="3042550"/>
            <a:ext cx="2452200" cy="43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" name="Google Shape;158;p24"/>
          <p:cNvCxnSpPr>
            <a:stCxn id="150" idx="1"/>
          </p:cNvCxnSpPr>
          <p:nvPr/>
        </p:nvCxnSpPr>
        <p:spPr>
          <a:xfrm rot="10800000">
            <a:off x="3604648" y="2521726"/>
            <a:ext cx="1207800" cy="81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" name="Google Shape;159;p24"/>
          <p:cNvCxnSpPr/>
          <p:nvPr/>
        </p:nvCxnSpPr>
        <p:spPr>
          <a:xfrm flipH="1">
            <a:off x="2307850" y="3894375"/>
            <a:ext cx="2517600" cy="5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" name="Google Shape;160;p24"/>
          <p:cNvCxnSpPr/>
          <p:nvPr/>
        </p:nvCxnSpPr>
        <p:spPr>
          <a:xfrm flipH="1">
            <a:off x="2649925" y="4160225"/>
            <a:ext cx="2191800" cy="21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1" name="Google Shape;161;p24"/>
          <p:cNvCxnSpPr/>
          <p:nvPr/>
        </p:nvCxnSpPr>
        <p:spPr>
          <a:xfrm rot="10800000">
            <a:off x="1521325" y="1968400"/>
            <a:ext cx="3320400" cy="168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05825"/>
            <a:ext cx="4291866" cy="4085278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5"/>
          <p:cNvSpPr txBox="1"/>
          <p:nvPr>
            <p:ph type="title"/>
          </p:nvPr>
        </p:nvSpPr>
        <p:spPr>
          <a:xfrm>
            <a:off x="235500" y="1402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Scenario Analysis</a:t>
            </a:r>
            <a:endParaRPr b="1"/>
          </a:p>
        </p:txBody>
      </p:sp>
      <p:sp>
        <p:nvSpPr>
          <p:cNvPr id="168" name="Google Shape;168;p25"/>
          <p:cNvSpPr txBox="1"/>
          <p:nvPr/>
        </p:nvSpPr>
        <p:spPr>
          <a:xfrm>
            <a:off x="6626850" y="712225"/>
            <a:ext cx="1701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FF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Using:</a:t>
            </a:r>
            <a:endParaRPr b="1" sz="1800">
              <a:solidFill>
                <a:srgbClr val="FF00FF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Behavior</a:t>
            </a:r>
            <a:endParaRPr b="1" sz="1800">
              <a:solidFill>
                <a:srgbClr val="FF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Space</a:t>
            </a:r>
            <a:endParaRPr b="1" sz="1800">
              <a:solidFill>
                <a:srgbClr val="FF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69" name="Google Shape;16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2448" y="2011676"/>
            <a:ext cx="3278349" cy="265390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5"/>
          <p:cNvSpPr/>
          <p:nvPr/>
        </p:nvSpPr>
        <p:spPr>
          <a:xfrm>
            <a:off x="3534150" y="1436550"/>
            <a:ext cx="92100" cy="5100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71" name="Google Shape;171;p25"/>
          <p:cNvSpPr/>
          <p:nvPr/>
        </p:nvSpPr>
        <p:spPr>
          <a:xfrm>
            <a:off x="3404425" y="2185775"/>
            <a:ext cx="92100" cy="5100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72" name="Google Shape;172;p25"/>
          <p:cNvSpPr/>
          <p:nvPr/>
        </p:nvSpPr>
        <p:spPr>
          <a:xfrm>
            <a:off x="2047522" y="3244250"/>
            <a:ext cx="66900" cy="4005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73" name="Google Shape;173;p25"/>
          <p:cNvSpPr/>
          <p:nvPr/>
        </p:nvSpPr>
        <p:spPr>
          <a:xfrm>
            <a:off x="2114502" y="3722200"/>
            <a:ext cx="92100" cy="4005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cxnSp>
        <p:nvCxnSpPr>
          <p:cNvPr id="174" name="Google Shape;174;p25"/>
          <p:cNvCxnSpPr/>
          <p:nvPr/>
        </p:nvCxnSpPr>
        <p:spPr>
          <a:xfrm rot="10800000">
            <a:off x="3696925" y="1799975"/>
            <a:ext cx="1204500" cy="868200"/>
          </a:xfrm>
          <a:prstGeom prst="straightConnector1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5" name="Google Shape;175;p25"/>
          <p:cNvCxnSpPr/>
          <p:nvPr/>
        </p:nvCxnSpPr>
        <p:spPr>
          <a:xfrm flipH="1">
            <a:off x="2351550" y="3042550"/>
            <a:ext cx="2452200" cy="439500"/>
          </a:xfrm>
          <a:prstGeom prst="straightConnector1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" name="Google Shape;176;p25"/>
          <p:cNvCxnSpPr>
            <a:stCxn id="169" idx="1"/>
          </p:cNvCxnSpPr>
          <p:nvPr/>
        </p:nvCxnSpPr>
        <p:spPr>
          <a:xfrm rot="10800000">
            <a:off x="3604648" y="2521726"/>
            <a:ext cx="1207800" cy="816900"/>
          </a:xfrm>
          <a:prstGeom prst="straightConnector1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7" name="Google Shape;177;p25"/>
          <p:cNvCxnSpPr/>
          <p:nvPr/>
        </p:nvCxnSpPr>
        <p:spPr>
          <a:xfrm flipH="1">
            <a:off x="2307850" y="3894375"/>
            <a:ext cx="2517600" cy="54300"/>
          </a:xfrm>
          <a:prstGeom prst="straightConnector1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8" name="Google Shape;178;p25"/>
          <p:cNvCxnSpPr/>
          <p:nvPr/>
        </p:nvCxnSpPr>
        <p:spPr>
          <a:xfrm flipH="1">
            <a:off x="2649925" y="4160225"/>
            <a:ext cx="2191800" cy="216900"/>
          </a:xfrm>
          <a:prstGeom prst="straightConnector1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9" name="Google Shape;179;p25"/>
          <p:cNvCxnSpPr/>
          <p:nvPr/>
        </p:nvCxnSpPr>
        <p:spPr>
          <a:xfrm rot="10800000">
            <a:off x="1521325" y="1968400"/>
            <a:ext cx="3320400" cy="1681800"/>
          </a:xfrm>
          <a:prstGeom prst="straightConnector1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6"/>
          <p:cNvSpPr txBox="1"/>
          <p:nvPr>
            <p:ph type="title"/>
          </p:nvPr>
        </p:nvSpPr>
        <p:spPr>
          <a:xfrm>
            <a:off x="235500" y="1402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Scenario Analysis</a:t>
            </a:r>
            <a:endParaRPr b="1"/>
          </a:p>
        </p:txBody>
      </p:sp>
      <p:sp>
        <p:nvSpPr>
          <p:cNvPr id="185" name="Google Shape;185;p26"/>
          <p:cNvSpPr txBox="1"/>
          <p:nvPr/>
        </p:nvSpPr>
        <p:spPr>
          <a:xfrm>
            <a:off x="6626850" y="712225"/>
            <a:ext cx="1701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FF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Using:</a:t>
            </a:r>
            <a:endParaRPr b="1" sz="1800">
              <a:solidFill>
                <a:srgbClr val="FF00FF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Behavior</a:t>
            </a:r>
            <a:endParaRPr b="1" sz="1800">
              <a:solidFill>
                <a:srgbClr val="FF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Space</a:t>
            </a:r>
            <a:endParaRPr b="1" sz="1800">
              <a:solidFill>
                <a:srgbClr val="FF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86" name="Google Shape;18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2448" y="2011676"/>
            <a:ext cx="3278349" cy="2653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279199"/>
            <a:ext cx="4046576" cy="3277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8" name="Google Shape;188;p26"/>
          <p:cNvCxnSpPr/>
          <p:nvPr/>
        </p:nvCxnSpPr>
        <p:spPr>
          <a:xfrm rot="10800000">
            <a:off x="3713050" y="3899800"/>
            <a:ext cx="982200" cy="51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7"/>
          <p:cNvSpPr txBox="1"/>
          <p:nvPr>
            <p:ph type="title"/>
          </p:nvPr>
        </p:nvSpPr>
        <p:spPr>
          <a:xfrm>
            <a:off x="235500" y="1402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Scenario Analysis</a:t>
            </a:r>
            <a:endParaRPr b="1"/>
          </a:p>
        </p:txBody>
      </p:sp>
      <p:sp>
        <p:nvSpPr>
          <p:cNvPr id="194" name="Google Shape;194;p27"/>
          <p:cNvSpPr txBox="1"/>
          <p:nvPr/>
        </p:nvSpPr>
        <p:spPr>
          <a:xfrm>
            <a:off x="643025" y="1110725"/>
            <a:ext cx="2468100" cy="1569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8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Results from the Behavior Space experiments will need to be analyzed OUTSIDE NetLogo</a:t>
            </a:r>
            <a:endParaRPr b="1" sz="1800">
              <a:solidFill>
                <a:srgbClr val="98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95" name="Google Shape;19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9450" y="650825"/>
            <a:ext cx="5518894" cy="408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7"/>
          <p:cNvSpPr txBox="1"/>
          <p:nvPr/>
        </p:nvSpPr>
        <p:spPr>
          <a:xfrm>
            <a:off x="115750" y="3650300"/>
            <a:ext cx="3125100" cy="1015800"/>
          </a:xfrm>
          <a:prstGeom prst="rect">
            <a:avLst/>
          </a:prstGeom>
          <a:noFill/>
          <a:ln cap="flat" cmpd="sng" w="38100">
            <a:solidFill>
              <a:srgbClr val="98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VISIT THE </a:t>
            </a:r>
            <a:r>
              <a:rPr b="1" lang="en" sz="1800">
                <a:solidFill>
                  <a:srgbClr val="FF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COLAB</a:t>
            </a: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NOTEBOOK LINK PROVIDED 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97" name="Google Shape;197;p27"/>
          <p:cNvSpPr/>
          <p:nvPr/>
        </p:nvSpPr>
        <p:spPr>
          <a:xfrm rot="5400000">
            <a:off x="1459525" y="2902513"/>
            <a:ext cx="754500" cy="5259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